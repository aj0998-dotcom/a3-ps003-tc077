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686800" y="1005840"/>
            <a:ext cx="1097280" cy="640080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784080" y="960120"/>
            <a:ext cx="1005840" cy="685800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686800" y="1005840"/>
            <a:ext cx="274320" cy="1737360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61120" y="2743200"/>
            <a:ext cx="1280160" cy="228600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241280" y="2148840"/>
            <a:ext cx="914400" cy="822960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509760" y="2971800"/>
            <a:ext cx="731520" cy="1005839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509760" y="3977639"/>
            <a:ext cx="1463040" cy="228601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784080" y="1645920"/>
            <a:ext cx="457200" cy="1325880"/>
          </a:xfrm>
          <a:prstGeom prst="line">
            <a:avLst/>
          </a:prstGeom>
          <a:ln w="25400">
            <a:solidFill>
              <a:srgbClr val="162B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686800" y="100584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164592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0" y="96012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0" y="274320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0" y="297180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0" y="214884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0" y="3977639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0" y="4206240"/>
            <a:ext cx="164592" cy="164592"/>
          </a:xfrm>
          <a:prstGeom prst="ellipse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685800"/>
            <a:ext cx="2743200" cy="347472"/>
          </a:xfrm>
          <a:prstGeom prst="round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758952"/>
            <a:ext cx="25603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8FAFD"/>
                </a:solidFill>
                <a:latin typeface="Aptos"/>
              </a:defRPr>
            </a:pPr>
            <a:r>
              <a:t>SMART CITIES  •  HACKATHON PS-003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417320"/>
            <a:ext cx="7589520" cy="2240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3500" b="1">
                <a:solidFill>
                  <a:srgbClr val="F8FAFD"/>
                </a:solidFill>
                <a:latin typeface="Aptos"/>
              </a:defRPr>
            </a:pPr>
            <a:r>
              <a:t>FEDERATED</a:t>
            </a:r>
          </a:p>
          <a:p>
            <a:pPr algn="l">
              <a:spcAft>
                <a:spcPts val="500"/>
              </a:spcAft>
              <a:defRPr sz="3500" b="1">
                <a:solidFill>
                  <a:srgbClr val="F8FAFD"/>
                </a:solidFill>
                <a:latin typeface="Aptos"/>
              </a:defRPr>
            </a:pPr>
            <a:r>
              <a:t>TRAFFIC-FLOW</a:t>
            </a:r>
          </a:p>
          <a:p>
            <a:pPr algn="l">
              <a:spcAft>
                <a:spcPts val="500"/>
              </a:spcAft>
              <a:defRPr sz="3500" b="1">
                <a:solidFill>
                  <a:srgbClr val="F8FAFD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70408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33CDD3"/>
                </a:solidFill>
                <a:latin typeface="Aptos"/>
              </a:defRPr>
            </a:pPr>
            <a:r>
              <a:t>Communication-Cost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8"/>
            <a:ext cx="69494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E0EBF9"/>
                </a:solidFill>
                <a:latin typeface="Aptos"/>
              </a:defRPr>
            </a:pPr>
            <a:r>
              <a:t>A distributed learning simulator for forecasting traffic flow across virtual intersections.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257800"/>
            <a:ext cx="6217920" cy="18288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68112"/>
            <a:ext cx="1371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9BADC4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Sujal Thumar  •  Aditya Jain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126480"/>
            <a:ext cx="397763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33CDD3"/>
                </a:solidFill>
                <a:latin typeface="Aptos"/>
              </a:defRPr>
            </a:pPr>
            <a:r>
              <a:t>SRM KTR  |  TEAM OORIMANN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" cy="1828800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0078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21408"/>
            <a:ext cx="320040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Centralized forecasting may require continuous raw-data uploads from roadside sensors.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64008" cy="1828800"/>
          </a:xfrm>
          <a:prstGeom prst="rect">
            <a:avLst/>
          </a:prstGeom>
          <a:solidFill>
            <a:srgbClr val="41BE88"/>
          </a:solidFill>
          <a:ln>
            <a:solidFill>
              <a:srgbClr val="41B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0078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21408"/>
            <a:ext cx="320040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Train local models at 3–5 virtual intersections and aggregate updates with FedAvg.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0078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21408"/>
            <a:ext cx="3200400" cy="1170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Compare MAE, RMSE, communication bytes and convergence under IID/non-IID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06984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100" b="1">
                <a:solidFill>
                  <a:srgbClr val="33CDD3"/>
                </a:solidFill>
                <a:latin typeface="Aptos"/>
              </a:defRPr>
            </a:pPr>
            <a:r>
              <a:t>Measure the trade-off between forecasting quality and communication cost, while keeping raw training records local in the federated setup.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Prepared by Sujal Thumar and Aditya Jain • SRM KTR • Team OORIMANN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0EBF9"/>
                </a:solidFill>
                <a:latin typeface="Aptos"/>
              </a:defRPr>
            </a:pPr>
            <a:r>
              <a:t>•  Traffic patterns vary by location and time; one pooled model may not reflect every local pattern equally.</a:t>
            </a:r>
          </a:p>
          <a:p>
            <a:pPr>
              <a:spcAft>
                <a:spcPts val="1200"/>
              </a:spcAft>
              <a:defRPr sz="1800">
                <a:solidFill>
                  <a:srgbClr val="E0EBF9"/>
                </a:solidFill>
                <a:latin typeface="Aptos"/>
              </a:defRPr>
            </a:pPr>
            <a:r>
              <a:t>•  Centralized training can concentrate travel-related records and require repeated raw-data transmission.</a:t>
            </a:r>
          </a:p>
          <a:p>
            <a:pPr>
              <a:spcAft>
                <a:spcPts val="1200"/>
              </a:spcAft>
              <a:defRPr sz="1800">
                <a:solidFill>
                  <a:srgbClr val="E0EBF9"/>
                </a:solidFill>
                <a:latin typeface="Aptos"/>
              </a:defRPr>
            </a:pPr>
            <a:r>
              <a:t>•  Build a reproducible simulator using one public traffic dataset partitioned across 3–5 virtual clients.</a:t>
            </a:r>
          </a:p>
          <a:p>
            <a:pPr>
              <a:spcAft>
                <a:spcPts val="1200"/>
              </a:spcAft>
              <a:defRPr sz="1800">
                <a:solidFill>
                  <a:srgbClr val="E0EBF9"/>
                </a:solidFill>
                <a:latin typeface="Aptos"/>
              </a:defRPr>
            </a:pPr>
            <a:r>
              <a:t>•  Implement FedAvg and compare centralized, federated IID and federated non-IID setups.</a:t>
            </a:r>
          </a:p>
          <a:p>
            <a:pPr>
              <a:spcAft>
                <a:spcPts val="1200"/>
              </a:spcAft>
              <a:defRPr sz="1800">
                <a:solidFill>
                  <a:srgbClr val="E0EBF9"/>
                </a:solidFill>
                <a:latin typeface="Aptos"/>
              </a:defRPr>
            </a:pPr>
            <a:r>
              <a:t>•  Evaluate prediction error, bytes transmitted per round and convergence across three random seeds.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828800" cy="914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828800" cy="54864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1645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Public traffic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828800" cy="914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1828800" cy="54864"/>
          </a:xfrm>
          <a:prstGeom prst="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029968"/>
            <a:ext cx="1645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Preprocessing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&amp; time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828800"/>
            <a:ext cx="1828800" cy="914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1828800"/>
            <a:ext cx="1828800" cy="54864"/>
          </a:xfrm>
          <a:prstGeom prst="rect">
            <a:avLst/>
          </a:prstGeom>
          <a:solidFill>
            <a:srgbClr val="9075E6"/>
          </a:solidFill>
          <a:ln>
            <a:solidFill>
              <a:srgbClr val="907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029968"/>
            <a:ext cx="1645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Client partitioner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IID / non-IID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828800"/>
            <a:ext cx="1828800" cy="914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1828800"/>
            <a:ext cx="1828800" cy="54864"/>
          </a:xfrm>
          <a:prstGeom prst="rect">
            <a:avLst/>
          </a:prstGeom>
          <a:solidFill>
            <a:srgbClr val="41BE88"/>
          </a:solidFill>
          <a:ln>
            <a:solidFill>
              <a:srgbClr val="41B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029968"/>
            <a:ext cx="1645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Virtual clients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3–5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828800"/>
            <a:ext cx="2148840" cy="914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4040" y="1828800"/>
            <a:ext cx="2148840" cy="54864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029968"/>
            <a:ext cx="196596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Local model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103120"/>
            <a:ext cx="274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2103120"/>
            <a:ext cx="274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2103120"/>
            <a:ext cx="274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103120"/>
            <a:ext cx="274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3886200"/>
            <a:ext cx="2148840" cy="914400"/>
          </a:xfrm>
          <a:prstGeom prst="round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187952"/>
            <a:ext cx="1874519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FedAvg server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886200"/>
            <a:ext cx="2148840" cy="914400"/>
          </a:xfrm>
          <a:prstGeom prst="round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187952"/>
            <a:ext cx="1874519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Global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06324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33CDD3"/>
                </a:solidFill>
                <a:latin typeface="Aptos"/>
              </a:defRPr>
            </a:pPr>
            <a:r>
              <a:t>client updates 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187952"/>
            <a:ext cx="685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broadcast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E0EBF9"/>
                </a:solidFill>
                <a:latin typeface="Aptos"/>
              </a:defRPr>
            </a:pPr>
            <a:r>
              <a:t>Evaluation: MAE • RMSE • bytes/round • convergence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52160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9BADC4"/>
                </a:solidFill>
                <a:latin typeface="Aptos"/>
              </a:defRPr>
            </a:pPr>
            <a:r>
              <a:t>Same chronological test window for centralized and federated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Federated Learning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Oval 6"/>
          <p:cNvSpPr/>
          <p:nvPr/>
        </p:nvSpPr>
        <p:spPr>
          <a:xfrm>
            <a:off x="1216152" y="1600200"/>
            <a:ext cx="566928" cy="566928"/>
          </a:xfrm>
          <a:prstGeom prst="ellipse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746504"/>
            <a:ext cx="5669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201168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606040"/>
            <a:ext cx="1792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Broadcast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1737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E0EBF9"/>
                </a:solidFill>
                <a:latin typeface="Aptos"/>
              </a:defRPr>
            </a:pPr>
            <a:r>
              <a:t>Server sends the current global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971800"/>
            <a:ext cx="2560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547872" y="1600200"/>
            <a:ext cx="566928" cy="566928"/>
          </a:xfrm>
          <a:prstGeom prst="ellipse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746504"/>
            <a:ext cx="5669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2331720"/>
            <a:ext cx="201168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2606040"/>
            <a:ext cx="1792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Local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799" y="3090672"/>
            <a:ext cx="1737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E0EBF9"/>
                </a:solidFill>
                <a:latin typeface="Aptos"/>
              </a:defRPr>
            </a:pPr>
            <a:r>
              <a:t>Each client trains on its own partition.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971800"/>
            <a:ext cx="2560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879592" y="1600200"/>
            <a:ext cx="566928" cy="566928"/>
          </a:xfrm>
          <a:prstGeom prst="ellipse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9592" y="1746504"/>
            <a:ext cx="5669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59" y="2331720"/>
            <a:ext cx="201168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2606040"/>
            <a:ext cx="1792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Upload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090672"/>
            <a:ext cx="1737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E0EBF9"/>
                </a:solidFill>
                <a:latin typeface="Aptos"/>
              </a:defRPr>
            </a:pPr>
            <a:r>
              <a:t>Clients send model parameters or deltas.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7" y="2971800"/>
            <a:ext cx="2560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11311" y="1600200"/>
            <a:ext cx="566928" cy="566928"/>
          </a:xfrm>
          <a:prstGeom prst="ellipse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1" y="1746504"/>
            <a:ext cx="5669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2331720"/>
            <a:ext cx="201168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7" y="2606040"/>
            <a:ext cx="1792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090672"/>
            <a:ext cx="1737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E0EBF9"/>
                </a:solidFill>
                <a:latin typeface="Aptos"/>
              </a:defRPr>
            </a:pPr>
            <a:r>
              <a:t>FedAvg combines updates by client sample 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971800"/>
            <a:ext cx="25603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10543032" y="1600200"/>
            <a:ext cx="566928" cy="566928"/>
          </a:xfrm>
          <a:prstGeom prst="ellipse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43032" y="1746504"/>
            <a:ext cx="56692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2331720"/>
            <a:ext cx="2011680" cy="18288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9528" y="2606040"/>
            <a:ext cx="1792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8FAFD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090672"/>
            <a:ext cx="1737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E0EBF9"/>
                </a:solidFill>
                <a:latin typeface="Aptos"/>
              </a:defRPr>
            </a:pPr>
            <a:r>
              <a:t>The new global model starts the next round.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33CDD3"/>
                </a:solidFill>
                <a:latin typeface="Aptos"/>
              </a:defRPr>
            </a:pPr>
            <a:r>
              <a:t>Raw training records remain on each virtual client in the proposed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Centralized vs Federated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301752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3017520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46504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CENTRALIZED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67128"/>
            <a:ext cx="5029200" cy="2359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Training data pooled centrally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One model trained on pooled history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Common chronological test set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Reference for forecasting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349240" cy="301752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64008" cy="3017520"/>
          </a:xfrm>
          <a:prstGeom prst="rect">
            <a:avLst/>
          </a:prstGeom>
          <a:solidFill>
            <a:srgbClr val="41BE88"/>
          </a:solidFill>
          <a:ln>
            <a:solidFill>
              <a:srgbClr val="41B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46504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FEDERATED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67128"/>
            <a:ext cx="5029200" cy="2359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Data partitioned across clients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Local training each round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FedAvg aggregates model updates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Track update traffic and convergence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FB14F"/>
                </a:solidFill>
                <a:latin typeface="Aptos"/>
              </a:defRPr>
            </a:pPr>
            <a:r>
              <a:t>Fair comparison: same target, features, preprocessing and evaluation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Dataset &amp; Time-Series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664208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21408"/>
            <a:ext cx="1444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4813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8036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E0EBF9"/>
                </a:solidFill>
                <a:latin typeface="Aptos"/>
              </a:defRPr>
            </a:pPr>
            <a:r>
              <a:t>Source, timestamp, target, missingness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606040"/>
            <a:ext cx="228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965960"/>
            <a:ext cx="1664208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121408"/>
            <a:ext cx="1444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468880"/>
            <a:ext cx="14813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88036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E0EBF9"/>
                </a:solidFill>
                <a:latin typeface="Aptos"/>
              </a:defRPr>
            </a:pPr>
            <a:r>
              <a:t>Document missing-value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606040"/>
            <a:ext cx="228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65960"/>
            <a:ext cx="1664208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2121408"/>
            <a:ext cx="1444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68880"/>
            <a:ext cx="14813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88036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E0EBF9"/>
                </a:solidFill>
                <a:latin typeface="Aptos"/>
              </a:defRPr>
            </a:pPr>
            <a:r>
              <a:t>Sort by timestamp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606040"/>
            <a:ext cx="228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65960"/>
            <a:ext cx="1664208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121408"/>
            <a:ext cx="1444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468880"/>
            <a:ext cx="14813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88036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E0EBF9"/>
                </a:solidFill>
                <a:latin typeface="Aptos"/>
              </a:defRPr>
            </a:pPr>
            <a:r>
              <a:t>Past lags / time features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06040"/>
            <a:ext cx="228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1965960"/>
            <a:ext cx="1664208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2121408"/>
            <a:ext cx="1444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468880"/>
            <a:ext cx="14813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288036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E0EBF9"/>
                </a:solidFill>
                <a:latin typeface="Aptos"/>
              </a:defRPr>
            </a:pPr>
            <a:r>
              <a:t>Train → validation →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606040"/>
            <a:ext cx="228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33CDD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1965960"/>
            <a:ext cx="1664208" cy="16002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13848" y="2121408"/>
            <a:ext cx="144475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468880"/>
            <a:ext cx="14813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3848" y="2880360"/>
            <a:ext cx="1444752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E0EBF9"/>
                </a:solidFill>
                <a:latin typeface="Aptos"/>
              </a:defRPr>
            </a:pPr>
            <a:r>
              <a:t>3–5 client training subsets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343400"/>
            <a:ext cx="106984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B14F"/>
                </a:solidFill>
                <a:latin typeface="Aptos"/>
              </a:defRPr>
            </a:pPr>
            <a:r>
              <a:t>Chronological splitting avoids training on the future. The test set must remain untouched until final evaluation.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Dataset name and target horizon will be finalized after inspecting candidate public traffic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IID vs Non-IID Client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49240" cy="233172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2331720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92224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IID-LIKE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5029200" cy="16733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Clients receive broadly similar samples from the training distribution.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Purpose: establish a balanced federated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349240" cy="233172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64008" cy="2331720"/>
          </a:xfrm>
          <a:prstGeom prst="rect">
            <a:avLst/>
          </a:prstGeom>
          <a:solidFill>
            <a:srgbClr val="9075E6"/>
          </a:solidFill>
          <a:ln>
            <a:solidFill>
              <a:srgbClr val="907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92224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NON-IID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12848"/>
            <a:ext cx="5029200" cy="16733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Clients receive different time blocks or traffic regimes, creating local distribution differences.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Purpose: measure effects on convergence and prediction.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Control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E0EBF9"/>
                </a:solidFill>
                <a:latin typeface="Aptos"/>
              </a:defRPr>
            </a:pPr>
            <a:r>
              <a:t>Keep model, client count, round budget, preprocessing and test set consistent. Log client sizes and use reproducible partition seeds.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Forecasting Model &amp; FedAvg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96596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1965960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COMPACT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67128"/>
            <a:ext cx="3200400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Past traffic values and time features predict a future flow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196596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64008" cy="1965960"/>
          </a:xfrm>
          <a:prstGeom prst="rect">
            <a:avLst/>
          </a:prstGeom>
          <a:solidFill>
            <a:srgbClr val="41BE88"/>
          </a:solidFill>
          <a:ln>
            <a:solidFill>
              <a:srgbClr val="41B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LOCAL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3200400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Each client starts from the current global weights and trains locally.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196596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64008" cy="1965960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AGGREGATION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67128"/>
            <a:ext cx="3200400" cy="1307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Server averages local model weights using sample-count weighting.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FedAvg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33CDD3"/>
                </a:solidFill>
                <a:latin typeface="Aptos"/>
              </a:defRPr>
            </a:pPr>
            <a:r>
              <a:t>w(t+1) = Σᵢ (nᵢ / N) · wᵢ(t+1)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nᵢ = local training examples at client i; N = total examples represented in the round.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B14F"/>
                </a:solidFill>
                <a:latin typeface="Aptos"/>
              </a:defRPr>
            </a:pPr>
            <a:r>
              <a:t>The final model and forecasting horizon will be fixed after dataset inspection.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49240" cy="2057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2057400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92224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MAE — MEAN ABSOLUTE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5029200" cy="1399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E0EBF9"/>
                </a:solidFill>
                <a:latin typeface="Aptos"/>
              </a:defRPr>
            </a:pPr>
            <a:r>
              <a:t>MAE = (1/n) Σ |yᵢ − ŷᵢ|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E0EBF9"/>
                </a:solidFill>
                <a:latin typeface="Aptos"/>
              </a:defRPr>
            </a:pPr>
            <a:r>
              <a:t>Average absolute prediction error in target units. Lower is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349240" cy="20574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64008" cy="2057400"/>
          </a:xfrm>
          <a:prstGeom prst="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92224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RMSE — ROOT MEAN SQUARED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212848"/>
            <a:ext cx="5029200" cy="1399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E0EBF9"/>
                </a:solidFill>
                <a:latin typeface="Aptos"/>
              </a:defRPr>
            </a:pPr>
            <a:r>
              <a:t>RMSE = √[(1/n) Σ (yᵢ − ŷᵢ)²]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E0EBF9"/>
                </a:solidFill>
                <a:latin typeface="Aptos"/>
              </a:defRPr>
            </a:pPr>
            <a:r>
              <a:t>Penalizes large prediction errors more strongly. Lower is better.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Communication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10607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E0EBF9"/>
                </a:solidFill>
                <a:latin typeface="Aptos"/>
              </a:defRPr>
            </a:pPr>
            <a:r>
              <a:t>Count serialized client updates (uplink) + global model broadcasts (downlink) each round. Report both directions and total.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33CDD3"/>
                </a:solidFill>
                <a:latin typeface="Aptos"/>
              </a:defRPr>
            </a:pPr>
            <a:r>
              <a:t>Convergence: plot validation error by communication round; define any stopping criterion before using test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Experiment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2286000" cy="502920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691640"/>
            <a:ext cx="3840480" cy="502920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3657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DATA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691640"/>
            <a:ext cx="4297680" cy="502920"/>
          </a:xfrm>
          <a:prstGeom prst="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828800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94560"/>
            <a:ext cx="2286000" cy="731520"/>
          </a:xfrm>
          <a:prstGeom prst="rect">
            <a:avLst/>
          </a:prstGeom>
          <a:solidFill>
            <a:srgbClr val="162B4E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2066543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E0EBF9"/>
                </a:solidFill>
                <a:latin typeface="Aptos"/>
              </a:defRPr>
            </a:pPr>
            <a:r>
              <a:t>Centralized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194560"/>
            <a:ext cx="3840480" cy="731520"/>
          </a:xfrm>
          <a:prstGeom prst="rect">
            <a:avLst/>
          </a:prstGeom>
          <a:solidFill>
            <a:srgbClr val="162B4E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395728"/>
            <a:ext cx="3621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Pooled training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194560"/>
            <a:ext cx="4297680" cy="731520"/>
          </a:xfrm>
          <a:prstGeom prst="rect">
            <a:avLst/>
          </a:prstGeom>
          <a:solidFill>
            <a:srgbClr val="162B4E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395728"/>
            <a:ext cx="4078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Reference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2286000" cy="731520"/>
          </a:xfrm>
          <a:prstGeom prst="rect">
            <a:avLst/>
          </a:prstGeom>
          <a:solidFill>
            <a:srgbClr val="112243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127248"/>
            <a:ext cx="2066543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E0EBF9"/>
                </a:solidFill>
                <a:latin typeface="Aptos"/>
              </a:defRPr>
            </a:pPr>
            <a:r>
              <a:t>FedAvg IID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926080"/>
            <a:ext cx="3840480" cy="731520"/>
          </a:xfrm>
          <a:prstGeom prst="rect">
            <a:avLst/>
          </a:prstGeom>
          <a:solidFill>
            <a:srgbClr val="112243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3127248"/>
            <a:ext cx="3621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Similar client distributions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926080"/>
            <a:ext cx="4297680" cy="731520"/>
          </a:xfrm>
          <a:prstGeom prst="rect">
            <a:avLst/>
          </a:prstGeom>
          <a:solidFill>
            <a:srgbClr val="112243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127248"/>
            <a:ext cx="4078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Federated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2286000" cy="731520"/>
          </a:xfrm>
          <a:prstGeom prst="rect">
            <a:avLst/>
          </a:prstGeom>
          <a:solidFill>
            <a:srgbClr val="162B4E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58768"/>
            <a:ext cx="2066543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E0EBF9"/>
                </a:solidFill>
                <a:latin typeface="Aptos"/>
              </a:defRPr>
            </a:pPr>
            <a:r>
              <a:t>FedAvg non-IID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657600"/>
            <a:ext cx="3840480" cy="731520"/>
          </a:xfrm>
          <a:prstGeom prst="rect">
            <a:avLst/>
          </a:prstGeom>
          <a:solidFill>
            <a:srgbClr val="162B4E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3858768"/>
            <a:ext cx="3621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Heterogeneous client distributions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657600"/>
            <a:ext cx="4297680" cy="731520"/>
          </a:xfrm>
          <a:prstGeom prst="rect">
            <a:avLst/>
          </a:prstGeom>
          <a:solidFill>
            <a:srgbClr val="162B4E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3858768"/>
            <a:ext cx="4078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Client-drift effect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2286000" cy="731520"/>
          </a:xfrm>
          <a:prstGeom prst="rect">
            <a:avLst/>
          </a:prstGeom>
          <a:solidFill>
            <a:srgbClr val="112243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590288"/>
            <a:ext cx="2066543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E0EBF9"/>
                </a:solidFill>
                <a:latin typeface="Aptos"/>
              </a:defRPr>
            </a:pPr>
            <a:r>
              <a:t>Three seeds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389120"/>
            <a:ext cx="3840480" cy="731520"/>
          </a:xfrm>
          <a:prstGeom prst="rect">
            <a:avLst/>
          </a:prstGeom>
          <a:solidFill>
            <a:srgbClr val="112243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4590288"/>
            <a:ext cx="3621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Repeat each setup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389120"/>
            <a:ext cx="4297680" cy="731520"/>
          </a:xfrm>
          <a:prstGeom prst="rect">
            <a:avLst/>
          </a:prstGeom>
          <a:solidFill>
            <a:srgbClr val="112243"/>
          </a:solidFill>
          <a:ln>
            <a:solidFill>
              <a:srgbClr val="0C1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8" y="4590288"/>
            <a:ext cx="40782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E0EBF9"/>
                </a:solidFill>
                <a:latin typeface="Aptos"/>
              </a:defRPr>
            </a:pPr>
            <a:r>
              <a:t>Mean and variability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40680"/>
            <a:ext cx="10607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3CDD3"/>
                </a:solidFill>
                <a:latin typeface="Aptos"/>
              </a:defRPr>
            </a:pPr>
            <a:r>
              <a:t>Report each seed and summarize mean ± standard deviation. Keep settings fixed across comparable runs.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Prototype Pseudocode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44200" cy="4434840"/>
          </a:xfrm>
          <a:prstGeom prst="roundRect">
            <a:avLst/>
          </a:prstGeom>
          <a:solidFill>
            <a:srgbClr val="071023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149840" cy="3886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initialize global_model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for round in 1 ... R: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broadcast global_model to selected clients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client_updates = []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for client in selected_clients: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    local_model = copy(global_model)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    local_model.train(client.train_data, local_epochs)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    update = serialize(local_model.parameters)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    log upload_bytes(update)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    client_updates.append((update, client.sample_count))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global_model = FedAvg(client_updates)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    log validation_error and downlink_bytes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evaluate once on chronological test data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33CDD3"/>
                </a:solidFill>
                <a:latin typeface="Consolas"/>
              </a:defRPr>
            </a:pPr>
            <a:r>
              <a:t>compare with centralized baseline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Expected Analysis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201168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2011680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67128"/>
            <a:ext cx="320040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Compare MAE/RMSE for the same future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201168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64008" cy="2011680"/>
          </a:xfrm>
          <a:prstGeom prst="rect">
            <a:avLst/>
          </a:prstGeom>
          <a:solidFill>
            <a:srgbClr val="41BE88"/>
          </a:solidFill>
          <a:ln>
            <a:solidFill>
              <a:srgbClr val="41B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320040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Quantify real serialized bytes per round and across the full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201168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64008" cy="2011680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67128"/>
            <a:ext cx="320040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Compare IID/non-IID and seed-wise stability.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8FAFD"/>
                </a:solidFill>
                <a:latin typeface="Aptos"/>
              </a:defRPr>
            </a:pPr>
            <a:r>
              <a:t>Limitations to acknowledge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4241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Virtual clients approximate intersections; they are not a live deployment.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Payload accounting depends on serialization and overhead assumptions.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Federated learning does not itself provide a formal privacy guarantee.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• Results depend on dataset, client partitions and model configuration.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Implementation Roadmap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057400" cy="530352"/>
          </a:xfrm>
          <a:prstGeom prst="round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7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01 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27631"/>
            <a:ext cx="7680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Inspect dataset, define target and chronological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95144"/>
            <a:ext cx="2057400" cy="530352"/>
          </a:xfrm>
          <a:prstGeom prst="round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1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02 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14015"/>
            <a:ext cx="7680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Train and evaluate centralized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81528"/>
            <a:ext cx="2057400" cy="530352"/>
          </a:xfrm>
          <a:prstGeom prst="round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03  FEDAVG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200400"/>
            <a:ext cx="7680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Implement virtual clients, local training and aggregation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67912"/>
            <a:ext cx="2057400" cy="530352"/>
          </a:xfrm>
          <a:prstGeom prst="roundRect">
            <a:avLst/>
          </a:prstGeom>
          <a:solidFill>
            <a:srgbClr val="3477CF"/>
          </a:solidFill>
          <a:ln>
            <a:solidFill>
              <a:srgbClr val="347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04  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986784"/>
            <a:ext cx="7680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IID/non-IID runs, three seeds, metrics and bytes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2057400" cy="530352"/>
          </a:xfrm>
          <a:prstGeom prst="roundRect">
            <a:avLst/>
          </a:prstGeom>
          <a:solidFill>
            <a:srgbClr val="1DA099"/>
          </a:solidFill>
          <a:ln>
            <a:solidFill>
              <a:srgbClr val="1DA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09744"/>
            <a:ext cx="187451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8FAFD"/>
                </a:solidFill>
                <a:latin typeface="Aptos"/>
              </a:defRPr>
            </a:pPr>
            <a:r>
              <a:t>05 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773168"/>
            <a:ext cx="7680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E0EBF9"/>
                </a:solidFill>
                <a:latin typeface="Aptos"/>
              </a:defRPr>
            </a:pPr>
            <a:r>
              <a:t>Plots, analysis, PDF and mentor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B14F"/>
                </a:solidFill>
                <a:latin typeface="Aptos"/>
              </a:defRPr>
            </a:pPr>
            <a:r>
              <a:t>GitHub: create a private repository named OORIMANN, add the requested mentor collaborator, and follow the ownership-transfer instructions in the brief.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3CDD3"/>
                </a:solidFill>
                <a:latin typeface="Aptos"/>
              </a:defRPr>
            </a:pPr>
            <a:r>
              <a:t>OORIMANN  /  PS-003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8FAFD"/>
                </a:solidFill>
                <a:latin typeface="Aptos"/>
              </a:defRPr>
            </a:pPr>
            <a:r>
              <a:t>Conclusion &amp;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07008"/>
            <a:ext cx="914400" cy="36576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7315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9BADC4"/>
                </a:solidFill>
                <a:latin typeface="Aptos"/>
              </a:defRPr>
            </a:pPr>
            <a:r>
              <a:t>SRM KTR  •  SUJAL THUMAR  •  ADITYA JAIN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F8FAFD"/>
                </a:solidFill>
                <a:latin typeface="Aptos"/>
              </a:defRPr>
            </a:pPr>
            <a:r>
              <a:t>OORIMANN evaluates federated traffic-flow prediction as a trade-off between forecast quality, communication cost and convergence.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383280" cy="13716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64008" cy="1371600"/>
          </a:xfrm>
          <a:prstGeom prst="rect">
            <a:avLst/>
          </a:prstGeom>
          <a:solidFill>
            <a:srgbClr val="33CDD3"/>
          </a:solidFill>
          <a:ln>
            <a:solidFill>
              <a:srgbClr val="33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306324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MAE and RMSE on future timestamps.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34640"/>
            <a:ext cx="3383280" cy="13716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64008" cy="1371600"/>
          </a:xfrm>
          <a:prstGeom prst="rect">
            <a:avLst/>
          </a:prstGeom>
          <a:solidFill>
            <a:srgbClr val="41BE88"/>
          </a:solidFill>
          <a:ln>
            <a:solidFill>
              <a:srgbClr val="41B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98094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01568"/>
            <a:ext cx="306324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Measured update and broadcast bytes.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34640"/>
            <a:ext cx="3383280" cy="1371600"/>
          </a:xfrm>
          <a:prstGeom prst="roundRect">
            <a:avLst/>
          </a:prstGeom>
          <a:solidFill>
            <a:srgbClr val="162B4E"/>
          </a:solidFill>
          <a:ln>
            <a:solidFill>
              <a:srgbClr val="16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834640"/>
            <a:ext cx="64008" cy="1371600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80944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8FAFD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01568"/>
            <a:ext cx="306324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IID/non-IID comparison across three seeds.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3CDD3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10912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E0EBF9"/>
                </a:solidFill>
                <a:latin typeface="Aptos"/>
              </a:defRPr>
            </a:pPr>
            <a:r>
              <a:t>McMahan et al. (2017), “Communication-Efficient Learning of Deep Networks from Decentralized Data,” AISTATS / PMLR 54.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B14F"/>
                </a:solidFill>
                <a:latin typeface="Aptos"/>
              </a:defRPr>
            </a:pPr>
            <a:r>
              <a:t>https://proceedings.mlr.press/v54/mcmahan17a.html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8FAFD"/>
                </a:solidFill>
                <a:latin typeface="Aptos"/>
              </a:defRPr>
            </a:pPr>
            <a:r>
              <a:t>Sujal Thumar  •  Aditya Jain  |  SRM KTR  |  Team OORIMANN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OORIMANN — Federated Traffic-Flow Prediction</dc:title>
  <dc:subject>PS-003 Smart Cities Hackathon Project</dc:subject>
  <dc:creator>Sujal Thumar; Aditya Jain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